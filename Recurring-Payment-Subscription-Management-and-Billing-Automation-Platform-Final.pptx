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Dela Gothic One" charset="-128"/>
      <p:regular r:id="rId11"/>
    </p:embeddedFont>
    <p:embeddedFont>
      <p:font typeface="Calibri" pitchFamily="34" charset="0"/>
      <p:regular r:id="rId12"/>
      <p:bold r:id="rId13"/>
      <p:italic r:id="rId14"/>
      <p:boldItalic r:id="rId15"/>
    </p:embeddedFont>
    <p:embeddedFont>
      <p:font typeface="DM Sans Bold" charset="0"/>
      <p:regular r:id="rId16"/>
    </p:embeddedFont>
    <p:embeddedFont>
      <p:font typeface="DM Sans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-85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5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-4-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3.svg"/><Relationship Id="rId5" Type="http://schemas.openxmlformats.org/officeDocument/2006/relationships/image" Target="../media/image-4-3.svg"/><Relationship Id="rId4" Type="http://schemas.openxmlformats.org/officeDocument/2006/relationships/image" Target="../media/image16.png"/><Relationship Id="rId9" Type="http://schemas.openxmlformats.org/officeDocument/2006/relationships/image" Target="../media/image-4-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1418332"/>
            <a:ext cx="6355993" cy="296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Recurring Payment, Subscription Management and Billing Automation Platform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4658717"/>
            <a:ext cx="6355993" cy="7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550"/>
              </a:spcAft>
              <a:buNone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Mentor: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Belovedinla LG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Coordinator: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Sri Gauri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0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" dur="4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/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37" y="987435"/>
            <a:ext cx="4571886" cy="44131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1457325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Project Objective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2322016"/>
            <a:ext cx="6355993" cy="3078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 fully functional billing management backend with APIs for plan management, customer subscription creation, billing cycle control, and invoice generation.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 a dashboard for finance teams to track active subscriptions, monthly recurring revenue (MRR), invoice status, and failed payment queues.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comprehensive audit logging for financial compliance and regulatory requirements across all billing events.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 SaaS businesses to reliably manage subscription plans, automate recurring invoicing, and handle payment failures gracefully.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0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" dur="4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740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Tech Stack Used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401328"/>
            <a:ext cx="500000" cy="500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2081328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HTML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40" y="1401328"/>
            <a:ext cx="500000" cy="500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49740" y="2081328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CSS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572" y="1401328"/>
            <a:ext cx="500000" cy="500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67572" y="2081328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Vanilla JS</a:t>
            </a:r>
            <a:endParaRPr lang="en-US" sz="1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08" y="2665496"/>
            <a:ext cx="500000" cy="500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1908" y="3345496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FastAPI</a:t>
            </a:r>
            <a:endParaRPr lang="en-US" sz="18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9740" y="2665496"/>
            <a:ext cx="500000" cy="5000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349740" y="3345496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PostgreSQL</a:t>
            </a:r>
            <a:endParaRPr lang="en-US" sz="18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572" y="2665496"/>
            <a:ext cx="500000" cy="5000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067572" y="3345496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Celery Beat</a:t>
            </a:r>
            <a:endParaRPr lang="en-US" sz="18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908" y="3929664"/>
            <a:ext cx="500000" cy="5000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31908" y="4609664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React.js</a:t>
            </a:r>
            <a:endParaRPr lang="en-US" sz="185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9740" y="3929664"/>
            <a:ext cx="500000" cy="5000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349740" y="4609664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Recharts</a:t>
            </a:r>
            <a:endParaRPr lang="en-US" sz="18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7572" y="3929664"/>
            <a:ext cx="500000" cy="5000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067572" y="4609664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ReportLab</a:t>
            </a:r>
            <a:endParaRPr lang="en-US" sz="185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908" y="5193832"/>
            <a:ext cx="500000" cy="5000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631908" y="5873832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Docker Compose</a:t>
            </a:r>
            <a:endParaRPr lang="en-US" sz="185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9740" y="5193832"/>
            <a:ext cx="500000" cy="5000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4349740" y="5873832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Mock Payment Gateway</a:t>
            </a:r>
            <a:endParaRPr lang="en-US" sz="1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0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" dur="4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5" dur="4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8" dur="4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1" dur="4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4" dur="4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7" dur="4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0" dur="4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3" dur="4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6" dur="4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9" dur="4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2" dur="4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5" dur="4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8" dur="400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1" dur="4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4" dur="400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7" dur="400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8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0" dur="400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3" dur="4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6" dur="400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9" dur="400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2" dur="400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Problem Statement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240000"/>
            <a:ext cx="6812282" cy="51608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918351" y="1573000"/>
            <a:ext cx="135331" cy="1353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77802" y="1550000"/>
            <a:ext cx="3388236" cy="23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 Reliable Billing Infrastructure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8177802" y="1770000"/>
            <a:ext cx="338823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SaaS businesses lack the infrastructure to manage complex subscription lifecycles end-to-end.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918351" y="2923000"/>
            <a:ext cx="135331" cy="13533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77802" y="2900000"/>
            <a:ext cx="3388236" cy="23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Manual Errors &amp; Proration Gaps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8177802" y="3120000"/>
            <a:ext cx="338823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billing exposes companies to errors in proration calculations, subscription state management, and payment retry logic.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918351" y="4273000"/>
            <a:ext cx="135331" cy="13533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77802" y="4250000"/>
            <a:ext cx="3388236" cy="23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Regulatory Compliance Risks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8177802" y="4470000"/>
            <a:ext cx="338823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 tax calculation, invoice formatting, and complete audit trails are required but rarely automated.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918351" y="5623000"/>
            <a:ext cx="135331" cy="13533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77802" y="5600000"/>
            <a:ext cx="3388236" cy="23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Complex State Transitions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8177802" y="5820000"/>
            <a:ext cx="338823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Handling trial → active → past-due → cancelled transitions with failed payment recovery requires sophisticated automation.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0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" dur="4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5" dur="4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8" dur="4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1" dur="4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4" dur="4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7" dur="4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0" dur="4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3" dur="4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6" dur="4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9" dur="4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2" dur="4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5" dur="4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 animBg="1"/>
      <p:bldP spid="3" grpId="0"/>
      <p:bldP spid="4" grpId="0"/>
      <p:bldP spid="5" grpId="0" animBg="1"/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24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246168"/>
            <a:ext cx="5346963" cy="534709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19173" y="2957881"/>
            <a:ext cx="2647983" cy="780000"/>
          </a:xfrm>
          <a:prstGeom prst="roundRect">
            <a:avLst>
              <a:gd name="adj" fmla="val 6217"/>
            </a:avLst>
          </a:prstGeom>
          <a:solidFill>
            <a:srgbClr val="181C26"/>
          </a:solidFill>
          <a:ln w="6350">
            <a:solidFill>
              <a:srgbClr val="23283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21366" y="3087881"/>
            <a:ext cx="2443597" cy="19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State Machine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321366" y="3317881"/>
            <a:ext cx="2443597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Trial → Active → Past-Due → Cancelled with timestamp tracking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918054" y="2957881"/>
            <a:ext cx="2648082" cy="780000"/>
          </a:xfrm>
          <a:prstGeom prst="roundRect">
            <a:avLst>
              <a:gd name="adj" fmla="val 6217"/>
            </a:avLst>
          </a:prstGeom>
          <a:solidFill>
            <a:srgbClr val="181C26"/>
          </a:solidFill>
          <a:ln w="6350">
            <a:solidFill>
              <a:srgbClr val="2328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20247" y="3087881"/>
            <a:ext cx="2443697" cy="19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Proration Engine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020247" y="3317881"/>
            <a:ext cx="2443697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Auto-calculates unused plan portions for mid-cycle upgrades &amp; downgrades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19173" y="3937881"/>
            <a:ext cx="2647983" cy="780000"/>
          </a:xfrm>
          <a:prstGeom prst="roundRect">
            <a:avLst>
              <a:gd name="adj" fmla="val 6217"/>
            </a:avLst>
          </a:prstGeom>
          <a:solidFill>
            <a:srgbClr val="181C26"/>
          </a:solidFill>
          <a:ln w="6350">
            <a:solidFill>
              <a:srgbClr val="2328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21366" y="4067881"/>
            <a:ext cx="2443597" cy="19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Retry Logic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21366" y="4297881"/>
            <a:ext cx="2443597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Configurable schedule: Day 1 → Day 3 → Day 7 with auto status transitions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918054" y="3937881"/>
            <a:ext cx="2648082" cy="780000"/>
          </a:xfrm>
          <a:prstGeom prst="roundRect">
            <a:avLst>
              <a:gd name="adj" fmla="val 6217"/>
            </a:avLst>
          </a:prstGeom>
          <a:solidFill>
            <a:srgbClr val="181C26"/>
          </a:solidFill>
          <a:ln w="6350">
            <a:solidFill>
              <a:srgbClr val="23283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20247" y="4067881"/>
            <a:ext cx="2443697" cy="19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Audit Logging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020247" y="4297881"/>
            <a:ext cx="2443697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 billing event history per customer for compliance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0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" dur="4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5" dur="4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8" dur="4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1" dur="4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4" dur="4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7" dur="4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0" dur="4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3" dur="4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6" dur="4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9" dur="4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2" dur="4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5" dur="4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450578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Future Enhancements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405559"/>
            <a:ext cx="1486359" cy="918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3549749"/>
            <a:ext cx="2562756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Real Payment Gateways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1908" y="4251722"/>
            <a:ext cx="2562756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Integration with Stripe, PayPal, and Square for production-grade payment processing.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282" y="2405559"/>
            <a:ext cx="1486359" cy="9185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0282" y="3549749"/>
            <a:ext cx="2562756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Advanced Analytics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20282" y="4251722"/>
            <a:ext cx="2562756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analysis, lifetime value (LTV) calculations, and predictive churn modeling.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656" y="2405559"/>
            <a:ext cx="1486359" cy="9185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08656" y="3549749"/>
            <a:ext cx="2562756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Multi-Currency Support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08656" y="4251722"/>
            <a:ext cx="2562756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exchange rate handling for global SaaS operations across regions.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7030" y="2405559"/>
            <a:ext cx="1486359" cy="9185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7030" y="3549749"/>
            <a:ext cx="2562756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 Payment Optimization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7030" y="4251722"/>
            <a:ext cx="2562756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learning to predict optimal retry timing and intelligent dunning management strategies.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0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" dur="4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5" dur="4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8" dur="4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1" dur="4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4" dur="4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7" dur="4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0" dur="4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3" dur="4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6" dur="4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9" dur="4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2" dur="4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/>
      <p:bldP spid="7" grpId="0" animBg="1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39353"/>
            <a:ext cx="10927878" cy="38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System Architecture &amp; Key Features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200275"/>
            <a:ext cx="6443799" cy="29490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52034" y="2501195"/>
            <a:ext cx="1571162" cy="375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Processing &amp; Presentation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352034" y="2927059"/>
            <a:ext cx="1571162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Tax, proration, PDF generation, React dashboard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4259" y="3564270"/>
            <a:ext cx="1444456" cy="18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Automation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84259" y="3802544"/>
            <a:ext cx="1444456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5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Celery Beat scheduler triggers billing jobs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52034" y="4006369"/>
            <a:ext cx="1500384" cy="18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Core Database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52034" y="4244642"/>
            <a:ext cx="1571162" cy="350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PostgreSQL: plans, customers, invoices, audit_logs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364228" y="1104999"/>
            <a:ext cx="4201809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Core Capabilities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228" y="1378545"/>
            <a:ext cx="4201809" cy="11586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95731" y="1465263"/>
            <a:ext cx="138704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492515" y="1841103"/>
            <a:ext cx="3945236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Database Schema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2515" y="2105323"/>
            <a:ext cx="3945236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with enum-typed subscription status across plans, customers, invoices &amp; audit_logs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228" y="2611239"/>
            <a:ext cx="4201809" cy="115867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95731" y="2697956"/>
            <a:ext cx="138704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492515" y="3073797"/>
            <a:ext cx="3945236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Celery Beat Automation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492515" y="3338016"/>
            <a:ext cx="3945236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Scheduler triggers invoice generation jobs at correct renewal dates for each active subscription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228" y="3843933"/>
            <a:ext cx="4201809" cy="115867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95731" y="3930650"/>
            <a:ext cx="138704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492515" y="4306491"/>
            <a:ext cx="3945236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Tax &amp; Refund Engine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7492515" y="4570710"/>
            <a:ext cx="3945236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Configurable tax rates by country/region; automatic refund calculation for cancellations</a:t>
            </a:r>
            <a:endParaRPr lang="en-US" sz="9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228" y="5076627"/>
            <a:ext cx="4201809" cy="115867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95731" y="5163344"/>
            <a:ext cx="138704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492515" y="5539184"/>
            <a:ext cx="3945236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Dashboard Metrics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7492515" y="5803404"/>
            <a:ext cx="3945236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MRR tracking, churn rate, trial conversion, revenue by plan, and downloadable PDF invoices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0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" dur="4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5" dur="4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8" dur="4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1" dur="4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4" dur="4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7" dur="4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0" dur="4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3" dur="4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6" dur="4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9" dur="4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2" dur="4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5" dur="4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8" dur="400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1" dur="4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4" dur="400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7" dur="400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8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0" dur="400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3" dur="4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6" dur="400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9" dur="400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2" dur="400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5" dur="400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8" dur="400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/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2" grpId="0" animBg="1"/>
      <p:bldP spid="23" grpId="0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3132038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D4AF3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Thank You</a:t>
            </a:r>
            <a:endParaRPr lang="en-US" sz="3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436</Words>
  <Application>Microsoft Office PowerPoint</Application>
  <PresentationFormat>Custom</PresentationFormat>
  <Paragraphs>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Dela Gothic One</vt:lpstr>
      <vt:lpstr>Calibri</vt:lpstr>
      <vt:lpstr>DM Sans Bold</vt:lpstr>
      <vt:lpstr>DM Sans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Sarada Prasad Sahoo</dc:creator>
  <cp:lastModifiedBy>HP</cp:lastModifiedBy>
  <cp:revision>2</cp:revision>
  <dcterms:created xsi:type="dcterms:W3CDTF">2026-09-07T15:24:27Z</dcterms:created>
  <dcterms:modified xsi:type="dcterms:W3CDTF">2026-09-08T12:38:03Z</dcterms:modified>
</cp:coreProperties>
</file>